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</p:sldIdLst>
  <p:sldSz cx="9144000" cy="6858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slides/_rels/slide1.xml.rels><?xml version="1.0" encoding="UTF-8"?>
<Relationships xmlns="http://schemas.openxmlformats.org/package/2006/relationships">
</Relationships>
</file>

<file path=ppt/slides/_rels/slide2.xml.rels><?xml version="1.0" encoding="UTF-8"?>
<Relationships xmlns="http://schemas.openxmlformats.org/package/2006/relationships">
</Relationships>
</file>

<file path=ppt/slides/_rels/slide3.xml.rels><?xml version="1.0" encoding="UTF-8"?>
<Relationships xmlns="http://schemas.openxmlformats.org/package/2006/relationships">
</Relationships>
</file>

<file path=ppt/slides/_rels/slide4.xml.rels><?xml version="1.0" encoding="UTF-8"?>
<Relationships xmlns="http://schemas.openxmlformats.org/package/2006/relationships">
</Relationships>
</file>

<file path=ppt/slides/_rels/slide5.xml.rels><?xml version="1.0" encoding="UTF-8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914400" y="1828800"/>
            <a:ext cx="7315200" cy="1371600"/>
          </a:xfrm>
        </p:spPr>
        <p:txBody>
          <a:bodyPr/>
          <a:lstStyle/>
          <a:p>
            <a:pPr algn="ctr"/>
            <a:r>
              <a:rPr lang="ar-SA" sz="8800" b="1">
                <a:solidFill>
                  <a:srgbClr val="2C3E50"/>
                </a:solidFill>
              </a:rPr>
              <a:t>NEURA</a:t>
            </a:r>
          </a:p>
          <a:p>
            <a:pPr algn="ctr"/>
            <a:r>
              <a:rPr lang="ar-SA" sz="4400">
                <a:solidFill>
                  <a:srgbClr val="34495E"/>
                </a:solidFill>
              </a:rPr>
              <a:t>نظام المصادقة البيومترية المتقدم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pPr algn="ctr"/>
            <a:r>
              <a:rPr lang="ar-SA" sz="5400" b="1">
                <a:solidFill>
                  <a:srgbClr val="2C3E50"/>
                </a:solidFill>
              </a:rPr>
              <a:t>مبدأ AAA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4000000"/>
          </a:xfrm>
        </p:spPr>
        <p:txBody>
          <a:bodyPr/>
          <a:lstStyle/>
          <a:p>
            <a:r>
              <a:rPr lang="ar-SA" sz="2800" b="1">
                <a:solidFill>
                  <a:srgbClr val="3498DB"/>
                </a:solidFill>
              </a:rPr>
              <a:t>• Authentication - المصادقة</a:t>
            </a:r>
          </a:p>
          <a:p>
            <a:r>
              <a:rPr lang="ar-SA" sz="2400"/>
              <a:t>  التعرف على الوجه + كشف الحيوية + التحدي العشوائي</a:t>
            </a:r>
          </a:p>
          <a:p>
            <a:endParaRPr/>
          </a:p>
          <a:p>
            <a:r>
              <a:rPr lang="ar-SA" sz="2800" b="1">
                <a:solidFill>
                  <a:srgbClr val="27AE60"/>
                </a:solidFill>
              </a:rPr>
              <a:t>• Authorization - التفويض</a:t>
            </a:r>
          </a:p>
          <a:p>
            <a:r>
              <a:rPr lang="ar-SA" sz="2400"/>
              <a:t>  التحكم في الصلاحيات (Admin / User)</a:t>
            </a:r>
          </a:p>
          <a:p>
            <a:endParaRPr/>
          </a:p>
          <a:p>
            <a:r>
              <a:rPr lang="ar-SA" sz="2800" b="1">
                <a:solidFill>
                  <a:srgbClr val="E67E22"/>
                </a:solidFill>
              </a:rPr>
              <a:t>• Auditing - التدقيق</a:t>
            </a:r>
          </a:p>
          <a:p>
            <a:r>
              <a:rPr lang="ar-SA" sz="2400"/>
              <a:t>  سجلات شاملة مع التوقيت والتفاصيل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pPr algn="ctr"/>
            <a:r>
              <a:rPr lang="ar-SA" sz="5400" b="1">
                <a:solidFill>
                  <a:srgbClr val="2C3E50"/>
                </a:solidFill>
              </a:rPr>
              <a:t>مراحل التعرف على الوجه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4000000"/>
          </a:xfrm>
        </p:spPr>
        <p:txBody>
          <a:bodyPr/>
          <a:lstStyle/>
          <a:p>
            <a:r>
              <a:rPr lang="ar-SA" sz="2800"/>
              <a:t>1. التقاط الصورة من الكاميرا</a:t>
            </a:r>
          </a:p>
          <a:p>
            <a:r>
              <a:rPr lang="ar-SA" sz="2800"/>
              <a:t>2. اكتشاف الوجه (HOG Algorithm)</a:t>
            </a:r>
          </a:p>
          <a:p>
            <a:r>
              <a:rPr lang="ar-SA" sz="2800"/>
              <a:t>3. استخراج الخصائص (ResNet 128-D Encoding)</a:t>
            </a:r>
          </a:p>
          <a:p>
            <a:r>
              <a:rPr lang="ar-SA" sz="2800"/>
              <a:t>4. المقارنة مع قاعدة البيانات (Euclidean Distance)</a:t>
            </a:r>
          </a:p>
          <a:p>
            <a:r>
              <a:rPr lang="ar-SA" sz="2800"/>
              <a:t>5. حساب الثقة واتخاذ القرار (Threshold = 0.65)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914400" y="457200"/>
            <a:ext cx="7315200" cy="914400"/>
          </a:xfrm>
        </p:spPr>
        <p:txBody>
          <a:bodyPr/>
          <a:lstStyle/>
          <a:p>
            <a:pPr algn="ctr"/>
            <a:r>
              <a:rPr lang="ar-SA" sz="5400" b="1">
                <a:solidFill>
                  <a:srgbClr val="2C3E50"/>
                </a:solidFill>
              </a:rPr>
              <a:t>كشف الحيوية - MediaPipe Face Mesh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1600200"/>
            <a:ext cx="7315200" cy="4000000"/>
          </a:xfrm>
        </p:spPr>
        <p:txBody>
          <a:bodyPr/>
          <a:lstStyle/>
          <a:p>
            <a:r>
              <a:rPr lang="ar-SA" sz="2800"/>
              <a:t>• تتبع 468 نقطة على الوجه (3D Landmarks)</a:t>
            </a:r>
          </a:p>
          <a:p>
            <a:r>
              <a:rPr lang="ar-SA" sz="2800"/>
              <a:t>• حساب EAR (Eye Aspect Ratio) - كشف الرمش</a:t>
            </a:r>
          </a:p>
          <a:p>
            <a:r>
              <a:rPr lang="ar-SA" sz="2800"/>
              <a:t>• حساب MAR (Mouth Aspect Ratio) - كشف الابتسامة</a:t>
            </a:r>
          </a:p>
          <a:p>
            <a:r>
              <a:rPr lang="ar-SA" sz="2800"/>
              <a:t>• كشف حركة الرأس (Yaw, Pitch, Roll)</a:t>
            </a:r>
          </a:p>
          <a:p>
            <a:r>
              <a:rPr lang="ar-SA" sz="2800"/>
              <a:t>• منع الهجمات بالصور أو الفيديوهات المسجلة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3E50"/>
            </a:gs>
            <a:gs pos="100000">
              <a:srgbClr val="34495E"/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"/>
          <p:cNvSpPr/>
          <p:nvPr/>
        </p:nvSpPr>
        <p:spPr>
          <a:xfrm>
            <a:off x="914400" y="914400"/>
            <a:ext cx="7315200" cy="1371600"/>
          </a:xfrm>
        </p:spPr>
        <p:txBody>
          <a:bodyPr/>
          <a:lstStyle/>
          <a:p>
            <a:pPr algn="ctr"/>
            <a:r>
              <a:rPr lang="ar-SA" sz="6600" b="1">
                <a:solidFill>
                  <a:srgbClr val="FFFFFF"/>
                </a:solidFill>
              </a:rPr>
              <a:t>الخلاصة</a:t>
            </a:r>
          </a:p>
        </p:txBody>
      </p:sp>
      <p:sp>
        <p:nvSpPr>
          <p:cNvPr id="3" name="Content"/>
          <p:cNvSpPr/>
          <p:nvPr/>
        </p:nvSpPr>
        <p:spPr>
          <a:xfrm>
            <a:off x="914400" y="2514600"/>
            <a:ext cx="7315200" cy="3200400"/>
          </a:xfrm>
        </p:spPr>
        <p:txBody>
          <a:bodyPr/>
          <a:lstStyle/>
          <a:p>
            <a:pPr algn="ctr"/>
            <a:r>
              <a:rPr lang="ar-SA" sz="3600">
                <a:solidFill>
                  <a:srgbClr val="2ECC71"/>
                </a:solidFill>
              </a:rPr>
              <a:t>✓ نظام مصادقة بيومتري متقدم</a:t>
            </a:r>
          </a:p>
          <a:p>
            <a:pPr algn="ctr"/>
            <a:r>
              <a:rPr lang="ar-SA" sz="3600">
                <a:solidFill>
                  <a:srgbClr val="2ECC71"/>
                </a:solidFill>
              </a:rPr>
              <a:t>✓ تطبيق كامل لمبدأ AAA</a:t>
            </a:r>
          </a:p>
          <a:p>
            <a:pPr algn="ctr"/>
            <a:r>
              <a:rPr lang="ar-SA" sz="3600">
                <a:solidFill>
                  <a:srgbClr val="2ECC71"/>
                </a:solidFill>
              </a:rPr>
              <a:t>✓ واجهة رسومية حديثة</a:t>
            </a:r>
          </a:p>
          <a:p>
            <a:pPr algn="ctr"/>
            <a:r>
              <a:rPr lang="ar-SA" sz="3600">
                <a:solidFill>
                  <a:srgbClr val="2ECC71"/>
                </a:solidFill>
              </a:rPr>
              <a:t>✓ توثيق شامل</a:t>
            </a:r>
          </a:p>
          <a:p>
            <a:endParaRPr/>
          </a:p>
          <a:p>
            <a:pPr algn="ctr"/>
            <a:r>
              <a:rPr lang="ar-SA" sz="4800" b="1">
                <a:solidFill>
                  <a:srgbClr val="F1C40F"/>
                </a:solidFill>
              </a:rPr>
              <a:t>المشروع جاهز للتسليم! 🎉</a:t>
            </a:r>
          </a:p>
        </p:txBody>
      </p:sp>
    </p:spTree>
  </p:cSld>
</p:sld>
</file>