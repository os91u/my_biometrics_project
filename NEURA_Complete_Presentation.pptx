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core-properties" Target="docProps/core.xml"/>
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/>
  <p:notesSz cx="6858000" cy="9144000"/>
</p:presentation>
</file>

<file path=ppt/_rels/presentation.xml.rels><?xml version="1.0" encoding="UTF-8" standalone="yes"?>
<Relationships xmlns="http://schemas.openxmlformats.org/package/2006/relationships">
<Relationship Id="rId1" Type="http://schemas.openxmlformats.org/officeDocument/2006/relationships/slideMaster" Target="slideLayouts/slidemaster1.xml"/>\n<Relationship Id="rId1" Type="http://schemas.openxmlformats.org/officeDocument/2006/relationships/slide" Target="slides/slide1.xml"/>\n<Relationship Id="rId2" Type="http://schemas.openxmlformats.org/officeDocument/2006/relationships/slide" Target="slides/slide2.xml"/>\n<Relationship Id="rId3" Type="http://schemas.openxmlformats.org/officeDocument/2006/relationships/slide" Target="slides/slide3.xml"/>\n<Relationship Id="rId4" Type="http://schemas.openxmlformats.org/officeDocument/2006/relationships/slide" Target="slides/slide4.xml"/>\n<Relationship Id="rId5" Type="http://schemas.openxmlformats.org/officeDocument/2006/relationships/slide" Target="slides/slide5.xml"/>\n<Relationship Id="rId6" Type="http://schemas.openxmlformats.org/officeDocument/2006/relationships/slide" Target="slides/slide6.xml"/>\n<Relationship Id="rId7" Type="http://schemas.openxmlformats.org/officeDocument/2006/relationships/slide" Target="slides/slide7.xml"/>\n<Relationship Id="rId8" Type="http://schemas.openxmlformats.org/officeDocument/2006/relationships/slide" Target="slides/slide8.xml"/>\n<Relationship Id="rId9" Type="http://schemas.openxmlformats.org/officeDocument/2006/relationships/slide" Target="slides/slide9.xml"/>\n<Relationship Id="rId10" Type="http://schemas.openxmlformats.org/officeDocument/2006/relationships/slide" Target="slides/slide10.xml"/>\n<Relationship Id="rId11" Type="http://schemas.openxmlformats.org/officeDocument/2006/relationships/slide" Target="slides/slide11.xml"/>\n<Relationship Id="rId12" Type="http://schemas.openxmlformats.org/officeDocument/2006/relationships/slide" Target="slides/slide12.xml"/>\n<Relationship Id="rId13" Type="http://schemas.openxmlformats.org/officeDocument/2006/relationships/slide" Target="slides/slide13.xml"/>\n<Relationship Id="rId14" Type="http://schemas.openxmlformats.org/officeDocument/2006/relationships/slide" Target="slides/slide14.xml"/>\n<Relationship Id="rId15" Type="http://schemas.openxmlformats.org/officeDocument/2006/relationships/slide" Target="slides/slide15.xml"/>\n<Relationship Id="rId16" Type="http://schemas.openxmlformats.org/officeDocument/2006/relationships/slide" Target="slides/slide16.xml"/>\n<Relationship Id="rId17" Type="http://schemas.openxmlformats.org/officeDocument/2006/relationships/slide" Target="slides/slide17.xml"/>\n<Relationship Id="rId18" Type="http://schemas.openxmlformats.org/officeDocument/2006/relationships/slide" Target="slides/slide18.xml"/>\n<Relationship Id="rId19" Type="http://schemas.openxmlformats.org/officeDocument/2006/relationships/slide" Target="slides/slide19.xml"/>\n<Relationship Id="rId20" Type="http://schemas.openxmlformats.org/officeDocument/2006/relationships/slide" Target="slides/slide20.xml"/>\n<Relationship Id="rId21" Type="http://schemas.openxmlformats.org/officeDocument/2006/relationships/slide" Target="slides/slide21.xml"/>\n<Relationship Id="rId22" Type="http://schemas.openxmlformats.org/officeDocument/2006/relationships/slide" Target="slides/slide22.xml"/>\n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نظام NEURA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sz="2800"/>
              <a:t>نظام مصادقة بيومترية متقدم
معتمد على التعرف على الوجه وكشف الحيوية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نظرة عامة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نظام مصادقة بيومترية آمن ومتقدم</a:t>
            </a:r>
          </a:p>
          <a:p>
            <a:pPr lvl="0">
              <a:buFont typeface="Arial"/>
            </a:pPr>
            <a:r>
              <a:rPr lang="ar-SA" sz="2000"/>
              <a:t>يستخدم الذكاء الاصطناعي والتعلم العميق</a:t>
            </a:r>
          </a:p>
          <a:p>
            <a:pPr lvl="0">
              <a:buFont typeface="Arial"/>
            </a:pPr>
            <a:r>
              <a:rPr lang="ar-SA" sz="2000"/>
              <a:t>يحمي ضد الهجمات والانتحال</a:t>
            </a:r>
          </a:p>
          <a:p>
            <a:pPr lvl="0">
              <a:buFont typeface="Arial"/>
            </a:pPr>
            <a:r>
              <a:rPr lang="ar-SA" sz="2000"/>
              <a:t>واجهة رسومية حديثة وسهلة الاستخدام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AAA Security Model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Authentication: مصادقة المستخدم بالوجه</a:t>
            </a:r>
          </a:p>
          <a:p>
            <a:pPr lvl="0">
              <a:buFont typeface="Arial"/>
            </a:pPr>
            <a:r>
              <a:rPr lang="ar-SA" sz="2000"/>
              <a:t>Authorization: التحقق من الصلاحيات (Admin/User)</a:t>
            </a:r>
          </a:p>
          <a:p>
            <a:pPr lvl="0">
              <a:buFont typeface="Arial"/>
            </a:pPr>
            <a:r>
              <a:rPr lang="ar-SA" sz="2000"/>
              <a:t>Audit: تسجيل جميع الأحداث</a:t>
            </a:r>
          </a:p>
          <a:p>
            <a:pPr lvl="0">
              <a:buFont typeface="Arial"/>
            </a:pPr>
            <a:r>
              <a:rPr lang="ar-SA" sz="2000"/>
              <a:t>تطبيق المعايير الأمنية العالمية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المكونات الرئيسية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محرك التعرف على الوجه (Face Recognition Engine)</a:t>
            </a:r>
          </a:p>
          <a:p>
            <a:pPr lvl="0">
              <a:buFont typeface="Arial"/>
            </a:pPr>
            <a:r>
              <a:rPr lang="ar-SA" sz="2000"/>
              <a:t>محرك كشف الحيوية (Liveness Detection Engine)</a:t>
            </a:r>
          </a:p>
          <a:p>
            <a:pPr lvl="0">
              <a:buFont typeface="Arial"/>
            </a:pPr>
            <a:r>
              <a:rPr lang="ar-SA" sz="2000"/>
              <a:t>محرك حساب الثقة (Confidence Scoring)</a:t>
            </a:r>
          </a:p>
          <a:p>
            <a:pPr lvl="0">
              <a:buFont typeface="Arial"/>
            </a:pPr>
            <a:r>
              <a:rPr lang="ar-SA" sz="2000"/>
              <a:t>التخزين الآمن بالتشفير (AES-256-GCM Encryption)</a:t>
            </a:r>
          </a:p>
          <a:p>
            <a:pPr lvl="0">
              <a:buFont typeface="Arial"/>
            </a:pPr>
            <a:r>
              <a:rPr lang="ar-SA" sz="2000"/>
              <a:t>واجهة رسومية متقدمة (GUI)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Face Recognition - التعرف على الوجه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1. الكشف (Detection): HOG Algorithm</a:t>
            </a:r>
          </a:p>
          <a:p>
            <a:pPr lvl="0">
              <a:buFont typeface="Arial"/>
            </a:pPr>
            <a:r>
              <a:rPr lang="ar-SA" sz="2000"/>
              <a:t>2. الاستخراج (Encoding): ResNet-34 Deep Learning</a:t>
            </a:r>
          </a:p>
          <a:p>
            <a:pPr lvl="0">
              <a:buFont typeface="Arial"/>
            </a:pPr>
            <a:r>
              <a:rPr lang="ar-SA" sz="2000"/>
              <a:t>3. المقارنة (Comparison): Euclidean Distance</a:t>
            </a:r>
          </a:p>
          <a:p>
            <a:pPr lvl="0">
              <a:buFont typeface="Arial"/>
            </a:pPr>
            <a:r>
              <a:rPr lang="ar-SA" sz="2000"/>
              <a:t>دقة عالية + سرعة ممتازة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HOG Algorithm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Histogram of Oriented Gradients</a:t>
            </a:r>
          </a:p>
          <a:p>
            <a:pPr lvl="0">
              <a:buFont typeface="Arial"/>
            </a:pPr>
            <a:r>
              <a:rPr lang="ar-SA" sz="2000"/>
              <a:t>يكتشف الوجه من خلال تدرجات الألوان</a:t>
            </a:r>
          </a:p>
          <a:p>
            <a:pPr lvl="0">
              <a:buFont typeface="Arial"/>
            </a:pPr>
            <a:r>
              <a:rPr lang="ar-SA" sz="2000"/>
              <a:t>سريع وموثوق</a:t>
            </a:r>
          </a:p>
          <a:p>
            <a:pPr lvl="0">
              <a:buFont typeface="Arial"/>
            </a:pPr>
            <a:r>
              <a:rPr lang="ar-SA" sz="2000"/>
              <a:t>يعمل في ظروف إضاءة متنوعة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ResNet-34 Encoding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شبكة عصبية عميقة (Deep Neural Network)</a:t>
            </a:r>
          </a:p>
          <a:p>
            <a:pPr lvl="0">
              <a:buFont typeface="Arial"/>
            </a:pPr>
            <a:r>
              <a:rPr lang="ar-SA" sz="2000"/>
              <a:t>تستخرج 128 رقم (128-D vector) لكل وجه</a:t>
            </a:r>
          </a:p>
          <a:p>
            <a:pPr lvl="0">
              <a:buFont typeface="Arial"/>
            </a:pPr>
            <a:r>
              <a:rPr lang="ar-SA" sz="2000"/>
              <a:t>مدربة على ملايين الوجوه</a:t>
            </a:r>
          </a:p>
          <a:p>
            <a:pPr lvl="0">
              <a:buFont typeface="Arial"/>
            </a:pPr>
            <a:r>
              <a:rPr lang="ar-SA" sz="2000"/>
              <a:t>دقة تصل إلى 99.38%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خطوات التعرف على الوجه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1. التقاط الصورة من الكاميرا</a:t>
            </a:r>
          </a:p>
          <a:p>
            <a:pPr lvl="0">
              <a:buFont typeface="Arial"/>
            </a:pPr>
            <a:r>
              <a:rPr lang="ar-SA" sz="2000"/>
              <a:t>2. اكتشاف الوجه (HOG)</a:t>
            </a:r>
          </a:p>
          <a:p>
            <a:pPr lvl="0">
              <a:buFont typeface="Arial"/>
            </a:pPr>
            <a:r>
              <a:rPr lang="ar-SA" sz="2000"/>
              <a:t>3. استخراج Encoding (ResNet)</a:t>
            </a:r>
          </a:p>
          <a:p>
            <a:pPr lvl="0">
              <a:buFont typeface="Arial"/>
            </a:pPr>
            <a:r>
              <a:rPr lang="ar-SA" sz="2000"/>
              <a:t>4. المقارنة مع قاعدة البيانات</a:t>
            </a:r>
          </a:p>
          <a:p>
            <a:pPr lvl="0">
              <a:buFont typeface="Arial"/>
            </a:pPr>
            <a:r>
              <a:rPr lang="ar-SA" sz="2000"/>
              <a:t>5. حساب المسافة (Euclidean Distance)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Euclidean Distance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قياس المسافة بين encodings</a:t>
            </a:r>
          </a:p>
          <a:p>
            <a:pPr lvl="0">
              <a:buFont typeface="Arial"/>
            </a:pPr>
            <a:r>
              <a:rPr lang="ar-SA" sz="2000"/>
              <a:t>المعادلة: √Σ(a[i] - b[i])²</a:t>
            </a:r>
          </a:p>
          <a:p>
            <a:pPr lvl="0">
              <a:buFont typeface="Arial"/>
            </a:pPr>
            <a:r>
              <a:rPr lang="ar-SA" sz="2000"/>
              <a:t>أقل مسافة = أفضل تطابق</a:t>
            </a:r>
          </a:p>
          <a:p>
            <a:pPr lvl="0">
              <a:buFont typeface="Arial"/>
            </a:pPr>
            <a:r>
              <a:rPr lang="ar-SA" sz="2000"/>
              <a:t>العتبة: 0.6 (أقل = أصرم)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Liveness Detection - كشف الحيوية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MediaPipe Face Mesh (468 نقطة)</a:t>
            </a:r>
          </a:p>
          <a:p>
            <a:pPr lvl="0">
              <a:buFont typeface="Arial"/>
            </a:pPr>
            <a:r>
              <a:rPr lang="ar-SA" sz="2000"/>
              <a:t>كشف الرمش (Eye Aspect Ratio - EAR)</a:t>
            </a:r>
          </a:p>
          <a:p>
            <a:pPr lvl="0">
              <a:buFont typeface="Arial"/>
            </a:pPr>
            <a:r>
              <a:rPr lang="ar-SA" sz="2000"/>
              <a:t>كشف الابتسامة (Mouth Aspect Ratio - MAR)</a:t>
            </a:r>
          </a:p>
          <a:p>
            <a:pPr lvl="0">
              <a:buFont typeface="Arial"/>
            </a:pPr>
            <a:r>
              <a:rPr lang="ar-SA" sz="2000"/>
              <a:t>كشف حركة الرأس (Yaw, Pitch, Roll)</a:t>
            </a:r>
          </a:p>
          <a:p>
            <a:pPr lvl="0">
              <a:buFont typeface="Arial"/>
            </a:pPr>
            <a:r>
              <a:rPr lang="ar-SA" sz="2000"/>
              <a:t>تحديات عشوائية للحماية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MediaPipe Face Mesh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تقنية من Google</a:t>
            </a:r>
          </a:p>
          <a:p>
            <a:pPr lvl="0">
              <a:buFont typeface="Arial"/>
            </a:pPr>
            <a:r>
              <a:rPr lang="ar-SA" sz="2000"/>
              <a:t>468 نقطة ثلاثية الأبعاد (3D Landmarks)</a:t>
            </a:r>
          </a:p>
          <a:p>
            <a:pPr lvl="0">
              <a:buFont typeface="Arial"/>
            </a:pPr>
            <a:r>
              <a:rPr lang="ar-SA" sz="2000"/>
              <a:t>دقة عالية في الوقت الفعلي</a:t>
            </a:r>
          </a:p>
          <a:p>
            <a:pPr lvl="0">
              <a:buFont typeface="Arial"/>
            </a:pPr>
            <a:r>
              <a:rPr lang="ar-SA" sz="2000"/>
              <a:t>تتبع حركات الوجه بدقة</a:t>
            </a:r>
          </a:p>
        </p:txBody>
      </p:sp>
    </p:spTree>
  </p:cSld>
</p:sld>
</file>

<file path=ppt/slides/slide1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
<p:cSld>
<p:spTree>
<p:nvGrpSpPr><p:cNvPr id="1" name=""/><p:cNvGrpSpPr/><p:nvPr/></p:nvGrpSpPr>
<p:grpSpPr><a:xfrm><a:off x="0" y="0"/><a:ext cx="0" cy="0"/><a:chOff x="0" y="0"/><a:chExt cx="0" cy="0"/></a:xfrm></p:grpSpPr>
<p:sp>
<p:nvSpPr><p:cNvPr id="1" name="Title 1"/><p:cNvSpPr><a:spLocks noGrp="1"/></p:cNvSpPr><p:nvPr><p:ph type="ctrTitle"/></p:nvPr></p:nvSpPr>
<p:spPr/>
<p:txBody>
<a:bodyPr/>
<a:lstStyle/>
<a:p><a:r><a:rPr lang="ar-SA" sz="4400" b="1"/><a:t>Eye Aspect Ratio (EAR)</a:t></a:r></a:p>
</p:txBody>
</p:sp>
<p:sp>
<p:nvSpPr><p:cNvPr id="2" name="Content 2"/><p:cNvSpPr><a:spLocks noGrp="1"/></p:cNvSpPr><p:nvPr><p:ph type="body" idx="1"/></p:nvPr></p:nvSpPr>
<p:spPr/>
<p:txBody>
<a:bodyPr/>
<a:lstStyle/>
<a:p><a:pPr lvl="0"><a:buFont typeface="Arial"/></a:pPr><a:r><a:rPr lang="ar-SA" sz="2000"/><a:t>معادلة: EAR = (|p2-p6| + |p3-p5|) / (2*|p1-p4|)</a:t></a:r></a:p><a:p><a:pPr lvl="0"><a:buFont typeface="Arial"/></a:pPr><a:r><a:rPr lang="ar-SA" sz="2000"/><a:t>كشف الرمش: EAR < 0.2</a:t></a:r></a:p><a:p><a:pPr lvl="0"><a:buFont typeface="Arial"/></a:pPr><a:r><a:rPr lang="ar-SA" sz="2000"/><a:t>عين مفتوحة: EAR > 0.21</a:t></a:r></a:p><a:p><a:pPr lvl="0"><a:buFont typeface="Arial"/></a:pPr><a:r><a:rPr lang="ar-SA" sz="2000"/><a:t>استخدام: تحدي الرمش</a:t></a:r></a:p>
</p:txBody>
</p:sp>
</p:spTree>
</p:cSld>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Mouth Aspect Ratio (MAR)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قياس فتحة الفم</a:t>
            </a:r>
          </a:p>
          <a:p>
            <a:pPr lvl="0">
              <a:buFont typeface="Arial"/>
            </a:pPr>
            <a:r>
              <a:rPr lang="ar-SA" sz="2000"/>
              <a:t>كشف الابتسامة والحديث</a:t>
            </a:r>
          </a:p>
          <a:p>
            <a:pPr lvl="0">
              <a:buFont typeface="Arial"/>
            </a:pPr>
            <a:r>
              <a:rPr lang="ar-SA" sz="2000"/>
              <a:t>استخدام: تحدي الابتسامة</a:t>
            </a:r>
          </a:p>
          <a:p>
            <a:pPr lvl="0">
              <a:buFont typeface="Arial"/>
            </a:pPr>
            <a:r>
              <a:rPr lang="ar-SA" sz="2000"/>
              <a:t>دقة عالية في الكشف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Confidence Scoring - حساب الثقة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دمج جميع المؤشرات في درجة واحدة</a:t>
            </a:r>
          </a:p>
          <a:p>
            <a:pPr lvl="0">
              <a:buFont typeface="Arial"/>
            </a:pPr>
            <a:r>
              <a:rPr lang="ar-SA" sz="2000"/>
              <a:t>Face Match (50%)</a:t>
            </a:r>
          </a:p>
          <a:p>
            <a:pPr lvl="0">
              <a:buFont typeface="Arial"/>
            </a:pPr>
            <a:r>
              <a:rPr lang="ar-SA" sz="2000"/>
              <a:t>Liveness Score (30%)</a:t>
            </a:r>
          </a:p>
          <a:p>
            <a:pPr lvl="0">
              <a:buFont typeface="Arial"/>
            </a:pPr>
            <a:r>
              <a:rPr lang="ar-SA" sz="2000"/>
              <a:t>Challenge Pass (20%)</a:t>
            </a:r>
          </a:p>
          <a:p>
            <a:pPr lvl="0">
              <a:buFont typeface="Arial"/>
            </a:pPr>
            <a:r>
              <a:rPr lang="ar-SA" sz="2000"/>
              <a:t>العتبة: 65% للقبول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معادلة الثقة النهائية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final_score = (match × 0.5) + (liveness × 0.3) + (challenge × 0.2)</a:t>
            </a:r>
          </a:p>
          <a:p>
            <a:pPr lvl="0">
              <a:buFont typeface="Arial"/>
            </a:pPr>
            <a:r>
              <a:rPr lang="ar-SA" sz="2000"/>
              <a:t>مثال: 0.67×0.5 + 1.0×0.3 + 0.2 = 0.835 (83.5%)</a:t>
            </a:r>
          </a:p>
          <a:p>
            <a:pPr lvl="0">
              <a:buFont typeface="Arial"/>
            </a:pPr>
            <a:r>
              <a:rPr lang="ar-SA" sz="2000"/>
              <a:t>النتيجة: قبول ✓</a:t>
            </a:r>
          </a:p>
          <a:p>
            <a:pPr lvl="0">
              <a:buFont typeface="Arial"/>
            </a:pPr>
            <a:r>
              <a:rPr lang="ar-SA" sz="2000"/>
              <a:t>فشل التحدي: عقوبة شديدة (×0.1)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التشفير الآمن - AES-256-GCM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خوارزمية عسكرية الدرجة</a:t>
            </a:r>
          </a:p>
          <a:p>
            <a:pPr lvl="0">
              <a:buFont typeface="Arial"/>
            </a:pPr>
            <a:r>
              <a:rPr lang="ar-SA" sz="2000"/>
              <a:t>مفتاح 256 بت</a:t>
            </a:r>
          </a:p>
          <a:p>
            <a:pPr lvl="0">
              <a:buFont typeface="Arial"/>
            </a:pPr>
            <a:r>
              <a:rPr lang="ar-SA" sz="2000"/>
              <a:t>Authenticated Encryption</a:t>
            </a:r>
          </a:p>
          <a:p>
            <a:pPr lvl="0">
              <a:buFont typeface="Arial"/>
            </a:pPr>
            <a:r>
              <a:rPr lang="ar-SA" sz="2000"/>
              <a:t>حماية بيانات المستخدمين</a:t>
            </a:r>
          </a:p>
          <a:p>
            <a:pPr lvl="0">
              <a:buFont typeface="Arial"/>
            </a:pPr>
            <a:r>
              <a:rPr lang="ar-SA" sz="2000"/>
              <a:t>تشفير faces.enc + state.enc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RBAC - التحكم بالصلاحيات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Role-Based Access Control</a:t>
            </a:r>
          </a:p>
          <a:p>
            <a:pPr lvl="0">
              <a:buFont typeface="Arial"/>
            </a:pPr>
            <a:r>
              <a:rPr lang="ar-SA" sz="2000"/>
              <a:t>دوران: Admin و User</a:t>
            </a:r>
          </a:p>
          <a:p>
            <a:pPr lvl="0">
              <a:buFont typeface="Arial"/>
            </a:pPr>
            <a:r>
              <a:rPr lang="ar-SA" sz="2000"/>
              <a:t>أول مستخدم دائماً Admin</a:t>
            </a:r>
          </a:p>
          <a:p>
            <a:pPr lvl="0">
              <a:buFont typeface="Arial"/>
            </a:pPr>
            <a:r>
              <a:rPr lang="ar-SA" sz="2000"/>
              <a:t>Admin فقط يمكنه تسجيل مستخدمين جدد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Bootstrap Flow - الإعداد الأولي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أول تشغيل للنظام</a:t>
            </a:r>
          </a:p>
          <a:p>
            <a:pPr lvl="0">
              <a:buFont typeface="Arial"/>
            </a:pPr>
            <a:r>
              <a:rPr lang="ar-SA" sz="2000"/>
              <a:t>إدخال بيانات الاعتماد (osamah/123456)</a:t>
            </a:r>
          </a:p>
          <a:p>
            <a:pPr lvl="0">
              <a:buFont typeface="Arial"/>
            </a:pPr>
            <a:r>
              <a:rPr lang="ar-SA" sz="2000"/>
              <a:t>تسجيل الوجه الأول (Admin)</a:t>
            </a:r>
          </a:p>
          <a:p>
            <a:pPr lvl="0">
              <a:buFont typeface="Arial"/>
            </a:pPr>
            <a:r>
              <a:rPr lang="ar-SA" sz="2000"/>
              <a:t>تفعيل النظام (BOOTSTRAP → ACTIVE)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الواجهة الرسومية (GUI)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مبنية بـ CustomTkinter</a:t>
            </a:r>
          </a:p>
          <a:p>
            <a:pPr lvl="0">
              <a:buFont typeface="Arial"/>
            </a:pPr>
            <a:r>
              <a:rPr lang="ar-SA" sz="2000"/>
              <a:t>مظهر داكن احترافي (Dark Theme)</a:t>
            </a:r>
          </a:p>
          <a:p>
            <a:pPr lvl="0">
              <a:buFont typeface="Arial"/>
            </a:pPr>
            <a:r>
              <a:rPr lang="ar-SA" sz="2000"/>
              <a:t>شاشات: Login, Admin Dashboard, User Dashboard</a:t>
            </a:r>
          </a:p>
          <a:p>
            <a:pPr lvl="0">
              <a:buFont typeface="Arial"/>
            </a:pPr>
            <a:r>
              <a:rPr lang="ar-SA" sz="2000"/>
              <a:t>عرض مباشر من الكاميرا</a:t>
            </a:r>
          </a:p>
          <a:p>
            <a:pPr lvl="0">
              <a:buFont typeface="Arial"/>
            </a:pPr>
            <a:r>
              <a:rPr lang="ar-SA" sz="2000"/>
              <a:t>تصميم عصري وسهل الاستخدام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التقنيات المستخدمة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Python 3.x</a:t>
            </a:r>
          </a:p>
          <a:p>
            <a:pPr lvl="0">
              <a:buFont typeface="Arial"/>
            </a:pPr>
            <a:r>
              <a:rPr lang="ar-SA" sz="2000"/>
              <a:t>dlib (Face Recognition)</a:t>
            </a:r>
          </a:p>
          <a:p>
            <a:pPr lvl="0">
              <a:buFont typeface="Arial"/>
            </a:pPr>
            <a:r>
              <a:rPr lang="ar-SA" sz="2000"/>
              <a:t>MediaPipe (Liveness Detection)</a:t>
            </a:r>
          </a:p>
          <a:p>
            <a:pPr lvl="0">
              <a:buFont typeface="Arial"/>
            </a:pPr>
            <a:r>
              <a:rPr lang="ar-SA" sz="2000"/>
              <a:t>OpenCV (معالجة الصور)</a:t>
            </a:r>
          </a:p>
          <a:p>
            <a:pPr lvl="0">
              <a:buFont typeface="Arial"/>
            </a:pPr>
            <a:r>
              <a:rPr lang="ar-SA" sz="2000"/>
              <a:t>cryptography (AES-256-GCM)</a:t>
            </a:r>
          </a:p>
          <a:p>
            <a:pPr lvl="0">
              <a:buFont typeface="Arial"/>
            </a:pPr>
            <a:r>
              <a:rPr lang="ar-SA" sz="2000"/>
              <a:t>CustomTkinter (واجهة رسومية)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الميزات الأمنية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</a:pPr>
            <a:r>
              <a:rPr lang="ar-SA" sz="2000"/>
              <a:t>✓ كشف الصور والفيديوهات المسجلة</a:t>
            </a:r>
          </a:p>
          <a:p>
            <a:pPr lvl="0">
              <a:buFont typeface="Arial"/>
            </a:pPr>
            <a:r>
              <a:rPr lang="ar-SA" sz="2000"/>
              <a:t>✓ تحديات عشوائية (رمش، ابتسامة، حركة رأس)</a:t>
            </a:r>
          </a:p>
          <a:p>
            <a:pPr lvl="0">
              <a:buFont typeface="Arial"/>
            </a:pPr>
            <a:r>
              <a:rPr lang="ar-SA" sz="2000"/>
              <a:t>✓ تشفير قاعدة البيانات</a:t>
            </a:r>
          </a:p>
          <a:p>
            <a:pPr lvl="0">
              <a:buFont typeface="Arial"/>
            </a:pPr>
            <a:r>
              <a:rPr lang="ar-SA" sz="2000"/>
              <a:t>✓ سجلات تدقيق شاملة (Audit Logs)</a:t>
            </a:r>
          </a:p>
          <a:p>
            <a:pPr lvl="0">
              <a:buFont typeface="Arial"/>
            </a:pPr>
            <a:r>
              <a:rPr lang="ar-SA" sz="2000"/>
              <a:t>✓ عدم إمكانية العودة لـ BOOTSTRAP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sz="4400" b="1"/>
              <a:t>شكراً</a:t>
            </a:r>
          </a:p>
        </p:txBody>
      </p:sp>
      <p:sp>
        <p:nvSpPr>
          <p:cNvPr id="2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sz="2800"/>
              <a:t>NEURA Biometric Security System
تقديم: فريق التطوير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Microsoft Office PowerPoint</Application>
  <Slides>22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NEURA Biometric Security System</dc:title>
  <dc:creator>NEURA Team</dc:creator>
  <cp:lastModifiedBy>NEURA Team</cp:lastModifiedBy>
  <cp:revision>1</cp:revision>
  <dcterms:created xsi:type="dcterms:W3CDTF">2026-01-24T00:00:00Z</dcterms:created>
  <dcterms:modified xsi:type="dcterms:W3CDTF">2026-01-24T00:00:00Z</dcterms:modified>
</cp:coreProperties>
</file>